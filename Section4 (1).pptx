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85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257" r:id="rId13"/>
    <p:sldId id="258" r:id="rId14"/>
    <p:sldId id="259" r:id="rId15"/>
    <p:sldId id="278" r:id="rId16"/>
    <p:sldId id="271" r:id="rId17"/>
    <p:sldId id="279" r:id="rId18"/>
    <p:sldId id="286" r:id="rId19"/>
    <p:sldId id="304" r:id="rId20"/>
    <p:sldId id="303" r:id="rId21"/>
    <p:sldId id="288" r:id="rId22"/>
    <p:sldId id="306" r:id="rId23"/>
    <p:sldId id="287" r:id="rId24"/>
    <p:sldId id="305" r:id="rId25"/>
    <p:sldId id="282" r:id="rId26"/>
    <p:sldId id="280" r:id="rId27"/>
    <p:sldId id="274" r:id="rId28"/>
    <p:sldId id="273" r:id="rId2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585" autoAdjust="0"/>
  </p:normalViewPr>
  <p:slideViewPr>
    <p:cSldViewPr snapToGrid="0" snapToObjects="1">
      <p:cViewPr>
        <p:scale>
          <a:sx n="75" d="100"/>
          <a:sy n="75" d="100"/>
        </p:scale>
        <p:origin x="-432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509739" y="0"/>
            <a:ext cx="13239661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0072" y="-21511"/>
            <a:ext cx="4904211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6197180" y="-21511"/>
            <a:ext cx="4672383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9511" y="2708476"/>
            <a:ext cx="4416656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9511" y="4421081"/>
            <a:ext cx="4411921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16680" y="1516829"/>
            <a:ext cx="2844059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6199570" y="6088284"/>
            <a:ext cx="4672383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69518" y="5719967"/>
            <a:ext cx="3774473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97180" y="5719967"/>
            <a:ext cx="857998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199570" y="6088284"/>
            <a:ext cx="4672383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7756" y="2900830"/>
            <a:ext cx="8847653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7757" y="4267201"/>
            <a:ext cx="8847651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89526" y="2313432"/>
            <a:ext cx="4558621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1923" y="2313431"/>
            <a:ext cx="4558621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324" y="2316009"/>
            <a:ext cx="4075136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599" y="2974695"/>
            <a:ext cx="4558621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0710" y="2316010"/>
            <a:ext cx="407322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923" y="2974695"/>
            <a:ext cx="4558621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739" y="0"/>
            <a:ext cx="13239661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0072" y="-21511"/>
            <a:ext cx="4904211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6197180" y="-21510"/>
            <a:ext cx="4672383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207114" y="601884"/>
            <a:ext cx="4748439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461" y="856527"/>
            <a:ext cx="4119514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6199570" y="6088284"/>
            <a:ext cx="4672383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6986" y="5724836"/>
            <a:ext cx="4657006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131" y="2657435"/>
            <a:ext cx="4404949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3811" y="4136994"/>
            <a:ext cx="4397233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739" y="0"/>
            <a:ext cx="13239661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6080072" y="-21511"/>
            <a:ext cx="4904211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6197180" y="-21510"/>
            <a:ext cx="4672383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1207114" y="601884"/>
            <a:ext cx="4748439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6199570" y="6088284"/>
            <a:ext cx="4672383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0921" y="2660904"/>
            <a:ext cx="4400166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39929" y="693795"/>
            <a:ext cx="4478331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1197" y="4133089"/>
            <a:ext cx="4399618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6986" y="5724836"/>
            <a:ext cx="4657006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9" y="1030147"/>
            <a:ext cx="1978755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04029" y="1030147"/>
            <a:ext cx="7229722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6294" y="0"/>
            <a:ext cx="13239661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09441" y="333488"/>
            <a:ext cx="10969943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080072" y="-21511"/>
            <a:ext cx="4904211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197180" y="-21510"/>
            <a:ext cx="4672383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0958" y="1027664"/>
            <a:ext cx="9363886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0961" y="2323652"/>
            <a:ext cx="9034069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94435" y="224493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86986" y="5852161"/>
            <a:ext cx="4668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97181" y="224492"/>
            <a:ext cx="17757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625600"/>
            <a:ext cx="6629400" cy="34798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Section </a:t>
            </a:r>
            <a:r>
              <a:rPr lang="en-US" b="1" dirty="0" smtClean="0">
                <a:solidFill>
                  <a:schemeClr val="tx1"/>
                </a:solidFill>
              </a:rPr>
              <a:t>4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/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IPv4, TCP, UDP, </a:t>
            </a:r>
            <a:r>
              <a:rPr lang="en-US" b="1" dirty="0" smtClean="0">
                <a:solidFill>
                  <a:schemeClr val="tx1"/>
                </a:solidFill>
              </a:rPr>
              <a:t/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/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and </a:t>
            </a:r>
            <a:r>
              <a:rPr lang="en-US" b="1" dirty="0" err="1">
                <a:solidFill>
                  <a:schemeClr val="tx1"/>
                </a:solidFill>
              </a:rPr>
              <a:t>Wireshark</a:t>
            </a:r>
            <a:r>
              <a:rPr lang="en-US" b="1" dirty="0">
                <a:solidFill>
                  <a:schemeClr val="tx1"/>
                </a:solidFill>
              </a:rPr>
              <a:t> Analysis</a:t>
            </a:r>
          </a:p>
        </p:txBody>
      </p:sp>
    </p:spTree>
    <p:extLst>
      <p:ext uri="{BB962C8B-B14F-4D97-AF65-F5344CB8AC3E}">
        <p14:creationId xmlns:p14="http://schemas.microsoft.com/office/powerpoint/2010/main" val="140005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IPv4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901" y="2336352"/>
            <a:ext cx="10261600" cy="3508977"/>
          </a:xfrm>
        </p:spPr>
        <p:txBody>
          <a:bodyPr>
            <a:normAutofit/>
          </a:bodyPr>
          <a:lstStyle/>
          <a:p>
            <a:r>
              <a:rPr lang="en-US" dirty="0"/>
              <a:t>Each packet has a </a:t>
            </a:r>
            <a:r>
              <a:rPr lang="en-US" b="1" dirty="0"/>
              <a:t>header</a:t>
            </a:r>
            <a:r>
              <a:rPr lang="en-US" dirty="0"/>
              <a:t> (metadata) and </a:t>
            </a:r>
            <a:r>
              <a:rPr lang="en-US" b="1" dirty="0"/>
              <a:t>data</a:t>
            </a:r>
            <a:r>
              <a:rPr lang="en-US" dirty="0"/>
              <a:t> (payload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en-US" dirty="0"/>
              <a:t>IPv4 operates at </a:t>
            </a:r>
            <a:r>
              <a:rPr lang="en-US" b="1" dirty="0"/>
              <a:t>OSI Layer 3 (Network Layer)</a:t>
            </a:r>
            <a:r>
              <a:rPr lang="en-US" dirty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handles </a:t>
            </a:r>
            <a:r>
              <a:rPr lang="en-US" b="1" dirty="0"/>
              <a:t>logical addressing</a:t>
            </a:r>
            <a:r>
              <a:rPr lang="en-US" dirty="0"/>
              <a:t> (source and destination IPs) and </a:t>
            </a:r>
            <a:r>
              <a:rPr lang="en-US" b="1" dirty="0" smtClean="0"/>
              <a:t>routing</a:t>
            </a:r>
            <a:r>
              <a:rPr lang="en-US" dirty="0" smtClean="0"/>
              <a:t> </a:t>
            </a:r>
            <a:r>
              <a:rPr lang="en-US" dirty="0"/>
              <a:t>across networks.</a:t>
            </a:r>
          </a:p>
        </p:txBody>
      </p:sp>
    </p:spTree>
    <p:extLst>
      <p:ext uri="{BB962C8B-B14F-4D97-AF65-F5344CB8AC3E}">
        <p14:creationId xmlns:p14="http://schemas.microsoft.com/office/powerpoint/2010/main" val="89794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IPv4 Header </a:t>
            </a:r>
            <a:r>
              <a:rPr dirty="0" smtClean="0"/>
              <a:t>Fields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10887"/>
              </p:ext>
            </p:extLst>
          </p:nvPr>
        </p:nvGraphicFramePr>
        <p:xfrm>
          <a:off x="1765301" y="2273297"/>
          <a:ext cx="8255000" cy="39377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38595"/>
                <a:gridCol w="1171678"/>
                <a:gridCol w="5144727"/>
              </a:tblGrid>
              <a:tr h="28888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Field Name</a:t>
                      </a:r>
                    </a:p>
                  </a:txBody>
                  <a:tcPr marL="44410" marR="44410" marT="22205" marB="22205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Bits</a:t>
                      </a:r>
                    </a:p>
                  </a:txBody>
                  <a:tcPr marL="44410" marR="44410" marT="22205" marB="22205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Description / Purpose</a:t>
                      </a:r>
                    </a:p>
                  </a:txBody>
                  <a:tcPr marL="44410" marR="44410" marT="22205" marB="22205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  <a:tr h="288885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Version</a:t>
                      </a:r>
                    </a:p>
                  </a:txBody>
                  <a:tcPr marL="44410" marR="44410" marT="22205" marB="2220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</a:t>
                      </a:r>
                    </a:p>
                  </a:txBody>
                  <a:tcPr marL="44410" marR="44410" marT="22205" marB="2220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Identifies IP version (IPv4)</a:t>
                      </a:r>
                    </a:p>
                  </a:txBody>
                  <a:tcPr marL="44410" marR="44410" marT="22205" marB="22205" anchor="ctr"/>
                </a:tc>
              </a:tr>
              <a:tr h="288885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Header Length</a:t>
                      </a:r>
                    </a:p>
                  </a:txBody>
                  <a:tcPr marL="44410" marR="44410" marT="22205" marB="2220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</a:t>
                      </a:r>
                    </a:p>
                  </a:txBody>
                  <a:tcPr marL="44410" marR="44410" marT="22205" marB="2220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Size of the IP header in 32-bit words</a:t>
                      </a:r>
                    </a:p>
                  </a:txBody>
                  <a:tcPr marL="44410" marR="44410" marT="22205" marB="22205" anchor="ctr"/>
                </a:tc>
              </a:tr>
              <a:tr h="288885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Type of Service (ToS)</a:t>
                      </a:r>
                    </a:p>
                  </a:txBody>
                  <a:tcPr marL="44410" marR="44410" marT="22205" marB="2220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 marL="44410" marR="44410" marT="22205" marB="2220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Defines packet priority / QoS</a:t>
                      </a:r>
                    </a:p>
                  </a:txBody>
                  <a:tcPr marL="44410" marR="44410" marT="22205" marB="22205" anchor="ctr"/>
                </a:tc>
              </a:tr>
              <a:tr h="288885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Total Length</a:t>
                      </a:r>
                    </a:p>
                  </a:txBody>
                  <a:tcPr marL="44410" marR="44410" marT="22205" marB="2220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16</a:t>
                      </a:r>
                    </a:p>
                  </a:txBody>
                  <a:tcPr marL="44410" marR="44410" marT="22205" marB="2220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Entire packet size (header + data)</a:t>
                      </a:r>
                    </a:p>
                  </a:txBody>
                  <a:tcPr marL="44410" marR="44410" marT="22205" marB="22205" anchor="ctr"/>
                </a:tc>
              </a:tr>
              <a:tr h="28888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Identification</a:t>
                      </a:r>
                    </a:p>
                  </a:txBody>
                  <a:tcPr marL="44410" marR="44410" marT="22205" marB="2220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16</a:t>
                      </a:r>
                    </a:p>
                  </a:txBody>
                  <a:tcPr marL="44410" marR="44410" marT="22205" marB="2220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Unique ID for packet fragmentation</a:t>
                      </a:r>
                    </a:p>
                  </a:txBody>
                  <a:tcPr marL="44410" marR="44410" marT="22205" marB="22205" anchor="ctr"/>
                </a:tc>
              </a:tr>
              <a:tr h="288885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Flags</a:t>
                      </a:r>
                    </a:p>
                  </a:txBody>
                  <a:tcPr marL="44410" marR="44410" marT="22205" marB="2220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</a:t>
                      </a:r>
                    </a:p>
                  </a:txBody>
                  <a:tcPr marL="44410" marR="44410" marT="22205" marB="2220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Control bits for fragmentation</a:t>
                      </a:r>
                    </a:p>
                  </a:txBody>
                  <a:tcPr marL="44410" marR="44410" marT="22205" marB="22205" anchor="ctr"/>
                </a:tc>
              </a:tr>
              <a:tr h="288885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Fragment Offset</a:t>
                      </a:r>
                    </a:p>
                  </a:txBody>
                  <a:tcPr marL="44410" marR="44410" marT="22205" marB="2220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13</a:t>
                      </a:r>
                    </a:p>
                  </a:txBody>
                  <a:tcPr marL="44410" marR="44410" marT="22205" marB="2220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Position of fragment in datagram</a:t>
                      </a:r>
                    </a:p>
                  </a:txBody>
                  <a:tcPr marL="44410" marR="44410" marT="22205" marB="22205" anchor="ctr"/>
                </a:tc>
              </a:tr>
              <a:tr h="288885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Time To Live (TTL)</a:t>
                      </a:r>
                    </a:p>
                  </a:txBody>
                  <a:tcPr marL="44410" marR="44410" marT="22205" marB="2220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 marL="44410" marR="44410" marT="22205" marB="2220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Limits packet lifetime in network</a:t>
                      </a:r>
                    </a:p>
                  </a:txBody>
                  <a:tcPr marL="44410" marR="44410" marT="22205" marB="22205" anchor="ctr"/>
                </a:tc>
              </a:tr>
              <a:tr h="288885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Protocol</a:t>
                      </a:r>
                    </a:p>
                  </a:txBody>
                  <a:tcPr marL="44410" marR="44410" marT="22205" marB="2220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8</a:t>
                      </a:r>
                    </a:p>
                  </a:txBody>
                  <a:tcPr marL="44410" marR="44410" marT="22205" marB="2220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Next layer: TCP = 6, UDP = 17</a:t>
                      </a:r>
                    </a:p>
                  </a:txBody>
                  <a:tcPr marL="44410" marR="44410" marT="22205" marB="22205" anchor="ctr"/>
                </a:tc>
              </a:tr>
              <a:tr h="288885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Header Checksum</a:t>
                      </a:r>
                    </a:p>
                  </a:txBody>
                  <a:tcPr marL="44410" marR="44410" marT="22205" marB="2220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16</a:t>
                      </a:r>
                    </a:p>
                  </a:txBody>
                  <a:tcPr marL="44410" marR="44410" marT="22205" marB="2220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Error detection for the header</a:t>
                      </a:r>
                    </a:p>
                  </a:txBody>
                  <a:tcPr marL="44410" marR="44410" marT="22205" marB="22205" anchor="ctr"/>
                </a:tc>
              </a:tr>
              <a:tr h="288885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Source IP Address</a:t>
                      </a:r>
                    </a:p>
                  </a:txBody>
                  <a:tcPr marL="44410" marR="44410" marT="22205" marB="2220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32</a:t>
                      </a:r>
                    </a:p>
                  </a:txBody>
                  <a:tcPr marL="44410" marR="44410" marT="22205" marB="22205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Sender’s IP address</a:t>
                      </a:r>
                    </a:p>
                  </a:txBody>
                  <a:tcPr marL="44410" marR="44410" marT="22205" marB="22205" anchor="ctr"/>
                </a:tc>
              </a:tr>
              <a:tr h="28888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Destination IP Address</a:t>
                      </a:r>
                    </a:p>
                  </a:txBody>
                  <a:tcPr marL="44410" marR="44410" marT="22205" marB="2220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32</a:t>
                      </a:r>
                    </a:p>
                  </a:txBody>
                  <a:tcPr marL="44410" marR="44410" marT="22205" marB="22205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Receiver’s IP address</a:t>
                      </a:r>
                    </a:p>
                  </a:txBody>
                  <a:tcPr marL="44410" marR="44410" marT="22205" marB="2220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942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TCP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Transmission </a:t>
            </a:r>
            <a:r>
              <a:rPr dirty="0"/>
              <a:t>Control Protocol (TCP)</a:t>
            </a:r>
          </a:p>
          <a:p>
            <a:endParaRPr lang="en-US" dirty="0" smtClean="0"/>
          </a:p>
          <a:p>
            <a:r>
              <a:rPr dirty="0" smtClean="0"/>
              <a:t>Reliable </a:t>
            </a:r>
            <a:r>
              <a:rPr dirty="0"/>
              <a:t>and connection-oriented.</a:t>
            </a:r>
          </a:p>
          <a:p>
            <a:endParaRPr lang="en-US" dirty="0" smtClean="0"/>
          </a:p>
          <a:p>
            <a:r>
              <a:rPr dirty="0" smtClean="0"/>
              <a:t>Uses </a:t>
            </a:r>
            <a:r>
              <a:rPr dirty="0"/>
              <a:t>acknowledgments and retransmissions.</a:t>
            </a:r>
          </a:p>
          <a:p>
            <a:endParaRPr lang="en-US" dirty="0" smtClean="0"/>
          </a:p>
          <a:p>
            <a:r>
              <a:rPr dirty="0" smtClean="0"/>
              <a:t>Used </a:t>
            </a:r>
            <a:r>
              <a:rPr dirty="0"/>
              <a:t>by: HTTP, HTTPS, FTP, Email.</a:t>
            </a:r>
          </a:p>
        </p:txBody>
      </p:sp>
    </p:spTree>
    <p:extLst>
      <p:ext uri="{BB962C8B-B14F-4D97-AF65-F5344CB8AC3E}">
        <p14:creationId xmlns:p14="http://schemas.microsoft.com/office/powerpoint/2010/main" val="88434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TCP 3-Way Handshake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5199" y="2303385"/>
            <a:ext cx="9789645" cy="1303415"/>
          </a:xfrm>
        </p:spPr>
        <p:txBody>
          <a:bodyPr>
            <a:normAutofit/>
          </a:bodyPr>
          <a:lstStyle/>
          <a:p>
            <a:r>
              <a:rPr lang="en-US" dirty="0" smtClean="0"/>
              <a:t>The TCP 3-Way Handshake ensures </a:t>
            </a:r>
            <a:r>
              <a:rPr lang="en-US" b="1" dirty="0"/>
              <a:t>reliable, synchronized communication</a:t>
            </a:r>
            <a:r>
              <a:rPr lang="en-US" dirty="0"/>
              <a:t> between two devices before data transfer begins.</a:t>
            </a:r>
          </a:p>
          <a:p>
            <a:endParaRPr lang="en-US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579453"/>
              </p:ext>
            </p:extLst>
          </p:nvPr>
        </p:nvGraphicFramePr>
        <p:xfrm>
          <a:off x="965198" y="3606801"/>
          <a:ext cx="10464801" cy="251567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35002"/>
                <a:gridCol w="4038600"/>
                <a:gridCol w="5791199"/>
              </a:tblGrid>
              <a:tr h="29896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Step</a:t>
                      </a:r>
                    </a:p>
                  </a:txBody>
                  <a:tcPr marL="81590" marR="81590" marT="40795" marB="4079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Message</a:t>
                      </a:r>
                    </a:p>
                  </a:txBody>
                  <a:tcPr marL="81590" marR="81590" marT="40795" marB="4079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Purpose / Explanation</a:t>
                      </a:r>
                    </a:p>
                  </a:txBody>
                  <a:tcPr marL="81590" marR="81590" marT="40795" marB="40795" anchor="ctr">
                    <a:solidFill>
                      <a:schemeClr val="bg2"/>
                    </a:solidFill>
                  </a:tcPr>
                </a:tc>
              </a:tr>
              <a:tr h="689528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 marL="81590" marR="81590" marT="40795" marB="4079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SYN (Synchronize)</a:t>
                      </a:r>
                    </a:p>
                  </a:txBody>
                  <a:tcPr marL="81590" marR="81590" marT="40795" marB="4079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Client initiates the connection and sends a request to start communication.</a:t>
                      </a:r>
                    </a:p>
                  </a:txBody>
                  <a:tcPr marL="81590" marR="81590" marT="40795" marB="40795" anchor="ctr"/>
                </a:tc>
              </a:tr>
              <a:tr h="811184"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</a:p>
                  </a:txBody>
                  <a:tcPr marL="81590" marR="81590" marT="40795" marB="4079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SYN-ACK (Synchronize + Acknowledge)</a:t>
                      </a:r>
                    </a:p>
                  </a:txBody>
                  <a:tcPr marL="81590" marR="81590" marT="40795" marB="4079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Server acknowledges the request and signals readiness to establish a connection.</a:t>
                      </a:r>
                    </a:p>
                  </a:txBody>
                  <a:tcPr marL="81590" marR="81590" marT="40795" marB="40795" anchor="ctr"/>
                </a:tc>
              </a:tr>
              <a:tr h="689528">
                <a:tc>
                  <a:txBody>
                    <a:bodyPr/>
                    <a:lstStyle/>
                    <a:p>
                      <a:r>
                        <a:rPr lang="en-US" sz="1600"/>
                        <a:t>3</a:t>
                      </a:r>
                    </a:p>
                  </a:txBody>
                  <a:tcPr marL="81590" marR="81590" marT="40795" marB="4079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ACK (Acknowledge)</a:t>
                      </a:r>
                    </a:p>
                  </a:txBody>
                  <a:tcPr marL="81590" marR="81590" marT="40795" marB="4079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Client confirms the server’s response — the connection is now established.</a:t>
                      </a:r>
                    </a:p>
                  </a:txBody>
                  <a:tcPr marL="81590" marR="81590" marT="40795" marB="4079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71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TCP Header Fields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6614315"/>
              </p:ext>
            </p:extLst>
          </p:nvPr>
        </p:nvGraphicFramePr>
        <p:xfrm>
          <a:off x="1479858" y="2413000"/>
          <a:ext cx="9061142" cy="39772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3942"/>
                <a:gridCol w="838200"/>
                <a:gridCol w="5969000"/>
              </a:tblGrid>
              <a:tr h="29560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Field Name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Bits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Description / Purpose</a:t>
                      </a:r>
                    </a:p>
                  </a:txBody>
                  <a:tcPr marL="35800" marR="35800" marT="17900" marB="17900" anchor="ctr"/>
                </a:tc>
              </a:tr>
              <a:tr h="357997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Source Port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16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Identifies the sending application’s port number.</a:t>
                      </a:r>
                    </a:p>
                  </a:txBody>
                  <a:tcPr marL="35800" marR="35800" marT="17900" marB="17900" anchor="ctr"/>
                </a:tc>
              </a:tr>
              <a:tr h="357997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Destination Port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16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Identifies the receiving application’s port number.</a:t>
                      </a:r>
                    </a:p>
                  </a:txBody>
                  <a:tcPr marL="35800" marR="35800" marT="17900" marB="17900" anchor="ctr"/>
                </a:tc>
              </a:tr>
              <a:tr h="357997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Sequence Number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32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Indicates the position of the first byte of data in this segment.</a:t>
                      </a:r>
                    </a:p>
                  </a:txBody>
                  <a:tcPr marL="35800" marR="35800" marT="17900" marB="17900" anchor="ctr"/>
                </a:tc>
              </a:tr>
              <a:tr h="357997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Acknowledgment Number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32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Confirms receipt of data by acknowledging the next expected byte.</a:t>
                      </a:r>
                    </a:p>
                  </a:txBody>
                  <a:tcPr marL="35800" marR="35800" marT="17900" marB="17900" anchor="ctr"/>
                </a:tc>
              </a:tr>
              <a:tr h="250598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Data Offset (Header Length)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Specifies the size of the TCP header.</a:t>
                      </a:r>
                    </a:p>
                  </a:txBody>
                  <a:tcPr marL="35800" marR="35800" marT="17900" marB="17900" anchor="ctr"/>
                </a:tc>
              </a:tr>
              <a:tr h="357997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Flags (Control Bits)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Controls the connection (SYN, ACK, FIN, RST, PSH, URG).</a:t>
                      </a:r>
                    </a:p>
                  </a:txBody>
                  <a:tcPr marL="35800" marR="35800" marT="17900" marB="17900" anchor="ctr"/>
                </a:tc>
              </a:tr>
              <a:tr h="357997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Window Size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16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Defines the size of the receiver’s buffer for flow control.</a:t>
                      </a:r>
                    </a:p>
                  </a:txBody>
                  <a:tcPr marL="35800" marR="35800" marT="17900" marB="17900" anchor="ctr"/>
                </a:tc>
              </a:tr>
              <a:tr h="250598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Checksum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16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Used for error detection in the header and data.</a:t>
                      </a:r>
                    </a:p>
                  </a:txBody>
                  <a:tcPr marL="35800" marR="35800" marT="17900" marB="17900" anchor="ctr"/>
                </a:tc>
              </a:tr>
              <a:tr h="357997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Urgent Pointer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16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Indicates data that should be prioritized as urgent.</a:t>
                      </a:r>
                    </a:p>
                  </a:txBody>
                  <a:tcPr marL="35800" marR="35800" marT="17900" marB="17900" anchor="ctr"/>
                </a:tc>
              </a:tr>
              <a:tr h="357997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Options (Optional)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Variable</a:t>
                      </a:r>
                    </a:p>
                  </a:txBody>
                  <a:tcPr marL="35800" marR="35800" marT="17900" marB="179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Used for features like window scaling or timestamps.</a:t>
                      </a:r>
                    </a:p>
                  </a:txBody>
                  <a:tcPr marL="35800" marR="35800" marT="17900" marB="179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822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UDP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User </a:t>
            </a:r>
            <a:r>
              <a:rPr dirty="0"/>
              <a:t>Datagram Protocol (UDP)</a:t>
            </a:r>
          </a:p>
          <a:p>
            <a:endParaRPr lang="en-US" dirty="0" smtClean="0"/>
          </a:p>
          <a:p>
            <a:r>
              <a:rPr dirty="0" smtClean="0"/>
              <a:t>Fast</a:t>
            </a:r>
            <a:r>
              <a:rPr dirty="0"/>
              <a:t>, connectionless, unreliable.</a:t>
            </a:r>
          </a:p>
          <a:p>
            <a:endParaRPr lang="en-US" dirty="0" smtClean="0"/>
          </a:p>
          <a:p>
            <a:r>
              <a:rPr dirty="0" smtClean="0"/>
              <a:t>No </a:t>
            </a:r>
            <a:r>
              <a:rPr dirty="0"/>
              <a:t>acknowledgments.</a:t>
            </a:r>
          </a:p>
          <a:p>
            <a:endParaRPr lang="en-US" dirty="0" smtClean="0"/>
          </a:p>
          <a:p>
            <a:r>
              <a:rPr dirty="0" smtClean="0"/>
              <a:t>Used </a:t>
            </a:r>
            <a:r>
              <a:rPr dirty="0"/>
              <a:t>in DNS, VoIP, Streaming, Games.</a:t>
            </a:r>
          </a:p>
        </p:txBody>
      </p:sp>
    </p:spTree>
    <p:extLst>
      <p:ext uri="{BB962C8B-B14F-4D97-AF65-F5344CB8AC3E}">
        <p14:creationId xmlns:p14="http://schemas.microsoft.com/office/powerpoint/2010/main" val="3818374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UDP Header Fields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211620"/>
              </p:ext>
            </p:extLst>
          </p:nvPr>
        </p:nvGraphicFramePr>
        <p:xfrm>
          <a:off x="1852528" y="2416968"/>
          <a:ext cx="8764672" cy="35112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21557"/>
                <a:gridCol w="1206947"/>
                <a:gridCol w="4636168"/>
              </a:tblGrid>
              <a:tr h="28067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Field Name</a:t>
                      </a:r>
                    </a:p>
                  </a:txBody>
                  <a:tcPr marL="70167" marR="70167" marT="35084" marB="35084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Bits</a:t>
                      </a:r>
                    </a:p>
                  </a:txBody>
                  <a:tcPr marL="70167" marR="70167" marT="35084" marB="35084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Description / Purpose</a:t>
                      </a:r>
                    </a:p>
                  </a:txBody>
                  <a:tcPr marL="70167" marR="70167" marT="35084" marB="35084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  <a:tr h="912177">
                <a:tc>
                  <a:txBody>
                    <a:bodyPr/>
                    <a:lstStyle/>
                    <a:p>
                      <a:r>
                        <a:rPr lang="en-US" sz="1400" b="1"/>
                        <a:t>Source Port</a:t>
                      </a:r>
                    </a:p>
                  </a:txBody>
                  <a:tcPr marL="70167" marR="70167" marT="35084" marB="350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16</a:t>
                      </a:r>
                    </a:p>
                  </a:txBody>
                  <a:tcPr marL="70167" marR="70167" marT="35084" marB="3508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Identifies the sending application's port number (optional if not needed for reply).</a:t>
                      </a:r>
                    </a:p>
                  </a:txBody>
                  <a:tcPr marL="70167" marR="70167" marT="35084" marB="35084" anchor="ctr"/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lang="en-US" sz="1400" b="1"/>
                        <a:t>Destination Port</a:t>
                      </a:r>
                    </a:p>
                  </a:txBody>
                  <a:tcPr marL="70167" marR="70167" marT="35084" marB="350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16</a:t>
                      </a:r>
                    </a:p>
                  </a:txBody>
                  <a:tcPr marL="70167" marR="70167" marT="35084" marB="3508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Identifies the receiving application's port number.</a:t>
                      </a:r>
                    </a:p>
                  </a:txBody>
                  <a:tcPr marL="70167" marR="70167" marT="35084" marB="35084" anchor="ctr"/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lang="en-US" sz="1400" b="1"/>
                        <a:t>Length</a:t>
                      </a:r>
                    </a:p>
                  </a:txBody>
                  <a:tcPr marL="70167" marR="70167" marT="35084" marB="350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16</a:t>
                      </a:r>
                    </a:p>
                  </a:txBody>
                  <a:tcPr marL="70167" marR="70167" marT="35084" marB="3508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Specifies the total length of the UDP header and data (in bytes).</a:t>
                      </a:r>
                    </a:p>
                  </a:txBody>
                  <a:tcPr marL="70167" marR="70167" marT="35084" marB="35084" anchor="ctr"/>
                </a:tc>
              </a:tr>
              <a:tr h="912177">
                <a:tc>
                  <a:txBody>
                    <a:bodyPr/>
                    <a:lstStyle/>
                    <a:p>
                      <a:r>
                        <a:rPr lang="en-US" sz="1400" b="1" dirty="0"/>
                        <a:t>Checksum</a:t>
                      </a:r>
                    </a:p>
                  </a:txBody>
                  <a:tcPr marL="70167" marR="70167" marT="35084" marB="350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</a:t>
                      </a:r>
                    </a:p>
                  </a:txBody>
                  <a:tcPr marL="70167" marR="70167" marT="35084" marB="35084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 for error detection of the header and data; optional in IPv4 but mandatory in IPv6.</a:t>
                      </a:r>
                    </a:p>
                  </a:txBody>
                  <a:tcPr marL="70167" marR="70167" marT="35084" marB="35084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277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TCP </a:t>
            </a:r>
            <a:r>
              <a:rPr dirty="0" err="1"/>
              <a:t>vs</a:t>
            </a:r>
            <a:r>
              <a:rPr dirty="0"/>
              <a:t> UDP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055644"/>
              </p:ext>
            </p:extLst>
          </p:nvPr>
        </p:nvGraphicFramePr>
        <p:xfrm>
          <a:off x="800100" y="2364564"/>
          <a:ext cx="10515601" cy="355466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00300"/>
                <a:gridCol w="4584700"/>
                <a:gridCol w="3530601"/>
              </a:tblGrid>
              <a:tr h="3898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Feature</a:t>
                      </a:r>
                    </a:p>
                  </a:txBody>
                  <a:tcPr marL="55688" marR="55688" marT="27844" marB="27844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TCP (Transmission Control Protocol)</a:t>
                      </a:r>
                    </a:p>
                  </a:txBody>
                  <a:tcPr marL="55688" marR="55688" marT="27844" marB="27844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UDP (User Datagram Protocol)</a:t>
                      </a:r>
                    </a:p>
                  </a:txBody>
                  <a:tcPr marL="55688" marR="55688" marT="27844" marB="27844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  <a:tr h="389819">
                <a:tc>
                  <a:txBody>
                    <a:bodyPr/>
                    <a:lstStyle/>
                    <a:p>
                      <a:r>
                        <a:rPr lang="en-US" sz="1400" b="1" dirty="0"/>
                        <a:t>Connection Type</a:t>
                      </a:r>
                    </a:p>
                  </a:txBody>
                  <a:tcPr marL="55688" marR="55688" marT="27844" marB="2784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Connection-oriented (establishes a session)</a:t>
                      </a:r>
                    </a:p>
                  </a:txBody>
                  <a:tcPr marL="55688" marR="55688" marT="27844" marB="2784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Connectionless (no session setup)</a:t>
                      </a:r>
                    </a:p>
                  </a:txBody>
                  <a:tcPr marL="55688" marR="55688" marT="27844" marB="27844" anchor="ctr"/>
                </a:tc>
              </a:tr>
              <a:tr h="556885">
                <a:tc>
                  <a:txBody>
                    <a:bodyPr/>
                    <a:lstStyle/>
                    <a:p>
                      <a:r>
                        <a:rPr lang="en-US" sz="1400" b="1"/>
                        <a:t>Reliability</a:t>
                      </a:r>
                    </a:p>
                  </a:txBody>
                  <a:tcPr marL="55688" marR="55688" marT="27844" marB="2784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Reliable – ensures delivery, retransmits lost packets</a:t>
                      </a:r>
                    </a:p>
                  </a:txBody>
                  <a:tcPr marL="55688" marR="55688" marT="27844" marB="2784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Unreliable – no delivery guarantee</a:t>
                      </a:r>
                    </a:p>
                  </a:txBody>
                  <a:tcPr marL="55688" marR="55688" marT="27844" marB="27844" anchor="ctr"/>
                </a:tc>
              </a:tr>
              <a:tr h="389819">
                <a:tc>
                  <a:txBody>
                    <a:bodyPr/>
                    <a:lstStyle/>
                    <a:p>
                      <a:r>
                        <a:rPr lang="en-US" sz="1400" b="1"/>
                        <a:t>Order of Data</a:t>
                      </a:r>
                    </a:p>
                  </a:txBody>
                  <a:tcPr marL="55688" marR="55688" marT="27844" marB="2784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Packets arrive in sequence</a:t>
                      </a:r>
                    </a:p>
                  </a:txBody>
                  <a:tcPr marL="55688" marR="55688" marT="27844" marB="2784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Packets may arrive out of order</a:t>
                      </a:r>
                    </a:p>
                  </a:txBody>
                  <a:tcPr marL="55688" marR="55688" marT="27844" marB="27844" anchor="ctr"/>
                </a:tc>
              </a:tr>
              <a:tr h="389819">
                <a:tc>
                  <a:txBody>
                    <a:bodyPr/>
                    <a:lstStyle/>
                    <a:p>
                      <a:r>
                        <a:rPr lang="en-US" sz="1400" b="1"/>
                        <a:t>Speed</a:t>
                      </a:r>
                    </a:p>
                  </a:txBody>
                  <a:tcPr marL="55688" marR="55688" marT="27844" marB="2784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Slower due to overhead and acknowledgments</a:t>
                      </a:r>
                    </a:p>
                  </a:txBody>
                  <a:tcPr marL="55688" marR="55688" marT="27844" marB="2784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Faster due to low overhead</a:t>
                      </a:r>
                    </a:p>
                  </a:txBody>
                  <a:tcPr marL="55688" marR="55688" marT="27844" marB="27844" anchor="ctr"/>
                </a:tc>
              </a:tr>
              <a:tr h="389819">
                <a:tc>
                  <a:txBody>
                    <a:bodyPr/>
                    <a:lstStyle/>
                    <a:p>
                      <a:r>
                        <a:rPr lang="en-US" sz="1400" b="1"/>
                        <a:t>Flow Control &amp; Congestion</a:t>
                      </a:r>
                    </a:p>
                  </a:txBody>
                  <a:tcPr marL="55688" marR="55688" marT="27844" marB="2784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Supported (using windowing and ACKs)</a:t>
                      </a:r>
                    </a:p>
                  </a:txBody>
                  <a:tcPr marL="55688" marR="55688" marT="27844" marB="2784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Not supported</a:t>
                      </a:r>
                    </a:p>
                  </a:txBody>
                  <a:tcPr marL="55688" marR="55688" marT="27844" marB="27844" anchor="ctr"/>
                </a:tc>
              </a:tr>
              <a:tr h="222754">
                <a:tc>
                  <a:txBody>
                    <a:bodyPr/>
                    <a:lstStyle/>
                    <a:p>
                      <a:r>
                        <a:rPr lang="en-US" sz="1400" b="1"/>
                        <a:t>Header Size</a:t>
                      </a:r>
                    </a:p>
                  </a:txBody>
                  <a:tcPr marL="55688" marR="55688" marT="27844" marB="2784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20 bytes (minimum)</a:t>
                      </a:r>
                    </a:p>
                  </a:txBody>
                  <a:tcPr marL="55688" marR="55688" marT="27844" marB="2784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8 bytes</a:t>
                      </a:r>
                    </a:p>
                  </a:txBody>
                  <a:tcPr marL="55688" marR="55688" marT="27844" marB="27844" anchor="ctr"/>
                </a:tc>
              </a:tr>
              <a:tr h="389819">
                <a:tc>
                  <a:txBody>
                    <a:bodyPr/>
                    <a:lstStyle/>
                    <a:p>
                      <a:r>
                        <a:rPr lang="en-US" sz="1400" b="1"/>
                        <a:t>Error Checking</a:t>
                      </a:r>
                    </a:p>
                  </a:txBody>
                  <a:tcPr marL="55688" marR="55688" marT="27844" marB="2784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Checksum with error recovery</a:t>
                      </a:r>
                    </a:p>
                  </a:txBody>
                  <a:tcPr marL="55688" marR="55688" marT="27844" marB="2784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Checksum only (no recovery)</a:t>
                      </a:r>
                    </a:p>
                  </a:txBody>
                  <a:tcPr marL="55688" marR="55688" marT="27844" marB="27844" anchor="ctr"/>
                </a:tc>
              </a:tr>
              <a:tr h="389819">
                <a:tc>
                  <a:txBody>
                    <a:bodyPr/>
                    <a:lstStyle/>
                    <a:p>
                      <a:r>
                        <a:rPr lang="en-US" sz="1400" b="1" dirty="0"/>
                        <a:t>Use Cases</a:t>
                      </a:r>
                    </a:p>
                  </a:txBody>
                  <a:tcPr marL="55688" marR="55688" marT="27844" marB="27844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Web browsing, email, file transfer (HTTP, SMTP, FTP)</a:t>
                      </a:r>
                    </a:p>
                  </a:txBody>
                  <a:tcPr marL="55688" marR="55688" marT="27844" marB="27844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Streaming, VoIP, DNS, gaming</a:t>
                      </a:r>
                    </a:p>
                  </a:txBody>
                  <a:tcPr marL="55688" marR="55688" marT="27844" marB="27844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392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Port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900" y="2297806"/>
            <a:ext cx="10960100" cy="1334394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Purpose:</a:t>
            </a:r>
            <a:r>
              <a:rPr lang="en-US" dirty="0"/>
              <a:t> Ports identify specific applications or services using the network.</a:t>
            </a:r>
          </a:p>
          <a:p>
            <a:r>
              <a:rPr lang="en-US" b="1" dirty="0"/>
              <a:t>Format:</a:t>
            </a:r>
            <a:r>
              <a:rPr lang="en-US" dirty="0"/>
              <a:t> Each port is represented by a </a:t>
            </a:r>
            <a:r>
              <a:rPr lang="en-US" b="1" dirty="0"/>
              <a:t>16-bit number</a:t>
            </a:r>
            <a:r>
              <a:rPr lang="en-US" dirty="0"/>
              <a:t> (0–65,535).</a:t>
            </a:r>
          </a:p>
          <a:p>
            <a:r>
              <a:rPr lang="en-US" b="1" dirty="0"/>
              <a:t>Function:</a:t>
            </a:r>
            <a:r>
              <a:rPr lang="en-US" dirty="0"/>
              <a:t> Helps distinguish multiple network connections on a single device.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04854"/>
              </p:ext>
            </p:extLst>
          </p:nvPr>
        </p:nvGraphicFramePr>
        <p:xfrm>
          <a:off x="762000" y="3704907"/>
          <a:ext cx="10604499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30400"/>
                <a:gridCol w="3175000"/>
                <a:gridCol w="5499099"/>
              </a:tblGrid>
              <a:tr h="22901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Range</a:t>
                      </a: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Type</a:t>
                      </a: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Example / Usage</a:t>
                      </a: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  <a:tr h="572527">
                <a:tc>
                  <a:txBody>
                    <a:bodyPr/>
                    <a:lstStyle/>
                    <a:p>
                      <a:r>
                        <a:rPr lang="en-US" sz="1800"/>
                        <a:t>0 – 1023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Well-known 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Common services (e.g., HTTP – Port 80, HTTPS – Port 443)</a:t>
                      </a:r>
                    </a:p>
                  </a:txBody>
                  <a:tcPr anchor="ctr"/>
                </a:tc>
              </a:tr>
              <a:tr h="572527">
                <a:tc>
                  <a:txBody>
                    <a:bodyPr/>
                    <a:lstStyle/>
                    <a:p>
                      <a:r>
                        <a:rPr lang="en-US" sz="1800"/>
                        <a:t>1024 – 49151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Registered 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Applications registered by vendors (e.g., MySQL – Port 3306)</a:t>
                      </a:r>
                    </a:p>
                  </a:txBody>
                  <a:tcPr anchor="ctr"/>
                </a:tc>
              </a:tr>
              <a:tr h="572527">
                <a:tc>
                  <a:txBody>
                    <a:bodyPr/>
                    <a:lstStyle/>
                    <a:p>
                      <a:r>
                        <a:rPr lang="en-US" sz="1800"/>
                        <a:t>49152 – 65535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Dynamic / Private 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Temporary or client-side ports used during communication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93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Common TCP and UDP Ports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066941"/>
              </p:ext>
            </p:extLst>
          </p:nvPr>
        </p:nvGraphicFramePr>
        <p:xfrm>
          <a:off x="1975159" y="2314042"/>
          <a:ext cx="8222941" cy="393567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92182"/>
                <a:gridCol w="1311261"/>
                <a:gridCol w="2064539"/>
                <a:gridCol w="3054959"/>
              </a:tblGrid>
              <a:tr h="29352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Service</a:t>
                      </a:r>
                    </a:p>
                  </a:txBody>
                  <a:tcPr marL="64970" marR="64970" marT="32485" marB="32485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Port</a:t>
                      </a:r>
                    </a:p>
                  </a:txBody>
                  <a:tcPr marL="64970" marR="64970" marT="32485" marB="32485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Protocol</a:t>
                      </a:r>
                    </a:p>
                  </a:txBody>
                  <a:tcPr marL="64970" marR="64970" marT="32485" marB="32485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Description</a:t>
                      </a:r>
                    </a:p>
                  </a:txBody>
                  <a:tcPr marL="64970" marR="64970" marT="32485" marB="32485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  <a:tr h="507394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HTTP</a:t>
                      </a:r>
                    </a:p>
                  </a:txBody>
                  <a:tcPr marL="64970" marR="64970" marT="32485" marB="32485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80</a:t>
                      </a:r>
                    </a:p>
                  </a:txBody>
                  <a:tcPr marL="64970" marR="64970" marT="32485" marB="324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TCP</a:t>
                      </a:r>
                    </a:p>
                  </a:txBody>
                  <a:tcPr marL="64970" marR="64970" marT="32485" marB="324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Web traffic (unencrypted)</a:t>
                      </a:r>
                    </a:p>
                  </a:txBody>
                  <a:tcPr marL="64970" marR="64970" marT="32485" marB="32485" anchor="ctr"/>
                </a:tc>
              </a:tr>
              <a:tr h="514558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HTTPS</a:t>
                      </a:r>
                    </a:p>
                  </a:txBody>
                  <a:tcPr marL="64970" marR="64970" marT="32485" marB="32485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443</a:t>
                      </a:r>
                    </a:p>
                  </a:txBody>
                  <a:tcPr marL="64970" marR="64970" marT="32485" marB="324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TCP</a:t>
                      </a:r>
                    </a:p>
                  </a:txBody>
                  <a:tcPr marL="64970" marR="64970" marT="32485" marB="324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Secure web traffic (SSL/TLS)</a:t>
                      </a:r>
                    </a:p>
                  </a:txBody>
                  <a:tcPr marL="64970" marR="64970" marT="32485" marB="32485" anchor="ctr"/>
                </a:tc>
              </a:tr>
              <a:tr h="293522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FTP</a:t>
                      </a:r>
                    </a:p>
                  </a:txBody>
                  <a:tcPr marL="64970" marR="64970" marT="32485" marB="32485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21</a:t>
                      </a:r>
                    </a:p>
                  </a:txBody>
                  <a:tcPr marL="64970" marR="64970" marT="32485" marB="324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TCP</a:t>
                      </a:r>
                    </a:p>
                  </a:txBody>
                  <a:tcPr marL="64970" marR="64970" marT="32485" marB="324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File transfer</a:t>
                      </a:r>
                    </a:p>
                  </a:txBody>
                  <a:tcPr marL="64970" marR="64970" marT="32485" marB="32485" anchor="ctr"/>
                </a:tc>
              </a:tr>
              <a:tr h="507394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DNS</a:t>
                      </a:r>
                    </a:p>
                  </a:txBody>
                  <a:tcPr marL="64970" marR="64970" marT="32485" marB="32485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53</a:t>
                      </a:r>
                    </a:p>
                  </a:txBody>
                  <a:tcPr marL="64970" marR="64970" marT="32485" marB="324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UDP / TCP</a:t>
                      </a:r>
                    </a:p>
                  </a:txBody>
                  <a:tcPr marL="64970" marR="64970" marT="32485" marB="324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Domain name resolution</a:t>
                      </a:r>
                    </a:p>
                  </a:txBody>
                  <a:tcPr marL="64970" marR="64970" marT="32485" marB="32485" anchor="ctr"/>
                </a:tc>
              </a:tr>
              <a:tr h="72485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DHCP</a:t>
                      </a:r>
                    </a:p>
                  </a:txBody>
                  <a:tcPr marL="64970" marR="64970" marT="32485" marB="32485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67 / 68</a:t>
                      </a:r>
                    </a:p>
                  </a:txBody>
                  <a:tcPr marL="64970" marR="64970" marT="32485" marB="324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UDP</a:t>
                      </a:r>
                    </a:p>
                  </a:txBody>
                  <a:tcPr marL="64970" marR="64970" marT="32485" marB="324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Automatic IP address assignment</a:t>
                      </a:r>
                    </a:p>
                  </a:txBody>
                  <a:tcPr marL="64970" marR="64970" marT="32485" marB="32485" anchor="ctr"/>
                </a:tc>
              </a:tr>
              <a:tr h="293522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SMTP</a:t>
                      </a:r>
                    </a:p>
                  </a:txBody>
                  <a:tcPr marL="64970" marR="64970" marT="32485" marB="32485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25</a:t>
                      </a:r>
                    </a:p>
                  </a:txBody>
                  <a:tcPr marL="64970" marR="64970" marT="32485" marB="324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TCP</a:t>
                      </a:r>
                    </a:p>
                  </a:txBody>
                  <a:tcPr marL="64970" marR="64970" marT="32485" marB="324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Sending emails</a:t>
                      </a:r>
                    </a:p>
                  </a:txBody>
                  <a:tcPr marL="64970" marR="64970" marT="32485" marB="32485" anchor="ctr"/>
                </a:tc>
              </a:tr>
              <a:tr h="293522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POP3</a:t>
                      </a:r>
                    </a:p>
                  </a:txBody>
                  <a:tcPr marL="64970" marR="64970" marT="32485" marB="32485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110</a:t>
                      </a:r>
                    </a:p>
                  </a:txBody>
                  <a:tcPr marL="64970" marR="64970" marT="32485" marB="324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TCP</a:t>
                      </a:r>
                    </a:p>
                  </a:txBody>
                  <a:tcPr marL="64970" marR="64970" marT="32485" marB="324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Retrieving emails</a:t>
                      </a:r>
                    </a:p>
                  </a:txBody>
                  <a:tcPr marL="64970" marR="64970" marT="32485" marB="32485" anchor="ctr"/>
                </a:tc>
              </a:tr>
              <a:tr h="50739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SSH</a:t>
                      </a:r>
                    </a:p>
                  </a:txBody>
                  <a:tcPr marL="64970" marR="64970" marT="32485" marB="32485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22</a:t>
                      </a:r>
                    </a:p>
                  </a:txBody>
                  <a:tcPr marL="64970" marR="64970" marT="32485" marB="324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TCP</a:t>
                      </a:r>
                    </a:p>
                  </a:txBody>
                  <a:tcPr marL="64970" marR="64970" marT="32485" marB="324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Secure remote access</a:t>
                      </a:r>
                    </a:p>
                  </a:txBody>
                  <a:tcPr marL="64970" marR="64970" marT="32485" marB="3248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49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What is </a:t>
            </a:r>
            <a:r>
              <a:rPr dirty="0" err="1" smtClean="0"/>
              <a:t>Wireshark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0961" y="2323652"/>
            <a:ext cx="9759639" cy="3508977"/>
          </a:xfrm>
        </p:spPr>
        <p:txBody>
          <a:bodyPr>
            <a:normAutofit fontScale="92500" lnSpcReduction="10000"/>
          </a:bodyPr>
          <a:lstStyle/>
          <a:p>
            <a:r>
              <a:rPr dirty="0" err="1" smtClean="0"/>
              <a:t>Wireshark</a:t>
            </a:r>
            <a:r>
              <a:rPr dirty="0" smtClean="0"/>
              <a:t> </a:t>
            </a:r>
            <a:r>
              <a:rPr dirty="0"/>
              <a:t>is a free, open-source network protocol analyzer.</a:t>
            </a:r>
          </a:p>
          <a:p>
            <a:endParaRPr lang="en-CA" dirty="0" smtClean="0"/>
          </a:p>
          <a:p>
            <a:r>
              <a:rPr dirty="0" smtClean="0"/>
              <a:t>It </a:t>
            </a:r>
            <a:r>
              <a:rPr dirty="0"/>
              <a:t>captures and displays network packets in real time.</a:t>
            </a:r>
          </a:p>
          <a:p>
            <a:endParaRPr lang="en-CA" dirty="0" smtClean="0"/>
          </a:p>
          <a:p>
            <a:r>
              <a:rPr dirty="0" smtClean="0"/>
              <a:t>Helps </a:t>
            </a:r>
            <a:r>
              <a:rPr dirty="0"/>
              <a:t>us visualize how data moves through the OSI model.</a:t>
            </a:r>
          </a:p>
          <a:p>
            <a:endParaRPr lang="en-CA" dirty="0" smtClean="0"/>
          </a:p>
          <a:p>
            <a:r>
              <a:rPr dirty="0" smtClean="0"/>
              <a:t>Used </a:t>
            </a:r>
            <a:r>
              <a:rPr dirty="0"/>
              <a:t>by students, engineers, and security analysts.</a:t>
            </a:r>
          </a:p>
          <a:p>
            <a:endParaRPr lang="en-CA" dirty="0" smtClean="0"/>
          </a:p>
          <a:p>
            <a:r>
              <a:rPr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Download 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link: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https://www.wireshark.org/download.html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Why Do We Use </a:t>
            </a:r>
            <a:r>
              <a:rPr dirty="0" err="1"/>
              <a:t>Wireshark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1" y="2323652"/>
            <a:ext cx="9931400" cy="3508977"/>
          </a:xfrm>
        </p:spPr>
        <p:txBody>
          <a:bodyPr>
            <a:normAutofit fontScale="92500" lnSpcReduction="10000"/>
          </a:bodyPr>
          <a:lstStyle/>
          <a:p>
            <a:r>
              <a:rPr dirty="0" smtClean="0"/>
              <a:t>Observe </a:t>
            </a:r>
            <a:r>
              <a:rPr dirty="0"/>
              <a:t>real network traffic live.</a:t>
            </a:r>
          </a:p>
          <a:p>
            <a:endParaRPr lang="en-CA" dirty="0" smtClean="0"/>
          </a:p>
          <a:p>
            <a:r>
              <a:rPr dirty="0" smtClean="0"/>
              <a:t>Understand </a:t>
            </a:r>
            <a:r>
              <a:rPr dirty="0"/>
              <a:t>IPv4, TCP, and UDP headers.</a:t>
            </a:r>
          </a:p>
          <a:p>
            <a:endParaRPr lang="en-CA" dirty="0" smtClean="0"/>
          </a:p>
          <a:p>
            <a:r>
              <a:rPr dirty="0" smtClean="0"/>
              <a:t>Filter </a:t>
            </a:r>
            <a:r>
              <a:rPr dirty="0"/>
              <a:t>packets by protocol: </a:t>
            </a:r>
            <a:r>
              <a:rPr dirty="0" err="1"/>
              <a:t>ip</a:t>
            </a:r>
            <a:r>
              <a:rPr dirty="0"/>
              <a:t>, </a:t>
            </a:r>
            <a:r>
              <a:rPr dirty="0" err="1"/>
              <a:t>tcp</a:t>
            </a:r>
            <a:r>
              <a:rPr dirty="0"/>
              <a:t>, </a:t>
            </a:r>
            <a:r>
              <a:rPr dirty="0" err="1"/>
              <a:t>udp</a:t>
            </a:r>
            <a:r>
              <a:rPr dirty="0"/>
              <a:t>.</a:t>
            </a:r>
          </a:p>
          <a:p>
            <a:endParaRPr lang="en-CA" dirty="0" smtClean="0"/>
          </a:p>
          <a:p>
            <a:r>
              <a:rPr dirty="0" smtClean="0"/>
              <a:t>Learn </a:t>
            </a:r>
            <a:r>
              <a:rPr dirty="0"/>
              <a:t>communication between devices using port numbers.</a:t>
            </a:r>
          </a:p>
          <a:p>
            <a:endParaRPr lang="en-CA" dirty="0" smtClean="0"/>
          </a:p>
          <a:p>
            <a:r>
              <a:rPr dirty="0" smtClean="0"/>
              <a:t>Bridge </a:t>
            </a:r>
            <a:r>
              <a:rPr dirty="0"/>
              <a:t>theory (OSI) and practice (real packets).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Wireshark</a:t>
            </a:r>
            <a:r>
              <a:rPr dirty="0"/>
              <a:t> Interface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323652"/>
            <a:ext cx="11366500" cy="3886648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Menu </a:t>
            </a:r>
            <a:r>
              <a:rPr lang="en-US" b="1" dirty="0"/>
              <a:t>&amp; </a:t>
            </a:r>
            <a:r>
              <a:rPr lang="en-US" b="1" dirty="0" smtClean="0"/>
              <a:t>Toolbar: </a:t>
            </a:r>
            <a:r>
              <a:rPr lang="en-US" dirty="0" smtClean="0"/>
              <a:t>Located </a:t>
            </a:r>
            <a:r>
              <a:rPr lang="en-US" dirty="0"/>
              <a:t>at the top — allows access to capture options, filters, and analysis tools.</a:t>
            </a:r>
          </a:p>
          <a:p>
            <a:r>
              <a:rPr lang="en-US" b="1" dirty="0" smtClean="0"/>
              <a:t>Filter </a:t>
            </a:r>
            <a:r>
              <a:rPr lang="en-US" b="1" dirty="0" err="1" smtClean="0"/>
              <a:t>Bar:</a:t>
            </a:r>
            <a:r>
              <a:rPr lang="en-US" dirty="0" err="1" smtClean="0"/>
              <a:t>Used</a:t>
            </a:r>
            <a:r>
              <a:rPr lang="en-US" dirty="0" smtClean="0"/>
              <a:t> </a:t>
            </a:r>
            <a:r>
              <a:rPr lang="en-US" dirty="0"/>
              <a:t>to apply display filters (e.g., </a:t>
            </a:r>
            <a:r>
              <a:rPr lang="en-US" dirty="0" err="1"/>
              <a:t>tcp</a:t>
            </a:r>
            <a:r>
              <a:rPr lang="en-US" dirty="0"/>
              <a:t>, </a:t>
            </a:r>
            <a:r>
              <a:rPr lang="en-US" dirty="0" err="1"/>
              <a:t>udp</a:t>
            </a:r>
            <a:r>
              <a:rPr lang="en-US" dirty="0"/>
              <a:t>, </a:t>
            </a:r>
            <a:r>
              <a:rPr lang="en-US" dirty="0" err="1"/>
              <a:t>ip.addr</a:t>
            </a:r>
            <a:r>
              <a:rPr lang="en-US" dirty="0"/>
              <a:t> == 192.168.1.2) to narrow down captured traffic.</a:t>
            </a:r>
          </a:p>
          <a:p>
            <a:r>
              <a:rPr lang="en-US" b="1" dirty="0" smtClean="0"/>
              <a:t>Packet </a:t>
            </a:r>
            <a:r>
              <a:rPr lang="en-US" b="1" dirty="0"/>
              <a:t>List Pane (Top Section</a:t>
            </a:r>
            <a:r>
              <a:rPr lang="en-US" b="1" dirty="0" smtClean="0"/>
              <a:t>):</a:t>
            </a:r>
            <a:r>
              <a:rPr lang="en-US" dirty="0" smtClean="0"/>
              <a:t>Displays </a:t>
            </a:r>
            <a:r>
              <a:rPr lang="en-US" dirty="0"/>
              <a:t>a summary of each packet captured:</a:t>
            </a:r>
          </a:p>
          <a:p>
            <a:pPr indent="190500"/>
            <a:r>
              <a:rPr lang="en-US" dirty="0"/>
              <a:t>No., Time, Source, Destination, Protocol, Length, and Info</a:t>
            </a:r>
          </a:p>
          <a:p>
            <a:pPr indent="190500"/>
            <a:r>
              <a:rPr lang="en-US" dirty="0"/>
              <a:t>Each row = one packet</a:t>
            </a:r>
          </a:p>
          <a:p>
            <a:r>
              <a:rPr lang="en-US" b="1" dirty="0" smtClean="0"/>
              <a:t>Packet </a:t>
            </a:r>
            <a:r>
              <a:rPr lang="en-US" b="1" dirty="0"/>
              <a:t>Details Pane (Middle Section</a:t>
            </a:r>
            <a:r>
              <a:rPr lang="en-US" b="1" dirty="0" smtClean="0"/>
              <a:t>):</a:t>
            </a:r>
            <a:r>
              <a:rPr lang="en-US" dirty="0" smtClean="0"/>
              <a:t>Shows </a:t>
            </a:r>
            <a:r>
              <a:rPr lang="en-US" dirty="0"/>
              <a:t>the selected packet’s details by layer:</a:t>
            </a:r>
          </a:p>
          <a:p>
            <a:pPr marL="533400" indent="-177800"/>
            <a:r>
              <a:rPr lang="en-US" dirty="0"/>
              <a:t>Ethernet (Layer 2)</a:t>
            </a:r>
          </a:p>
          <a:p>
            <a:pPr marL="533400" indent="-177800"/>
            <a:r>
              <a:rPr lang="en-US" dirty="0"/>
              <a:t>IPv4 (Layer 3)</a:t>
            </a:r>
          </a:p>
          <a:p>
            <a:pPr marL="533400" indent="-177800"/>
            <a:r>
              <a:rPr lang="en-US" dirty="0"/>
              <a:t>TCP/UDP (Layer 4)</a:t>
            </a:r>
          </a:p>
          <a:p>
            <a:pPr marL="533400" indent="-177800"/>
            <a:r>
              <a:rPr lang="en-US" dirty="0"/>
              <a:t>Application data (Layer 7)</a:t>
            </a:r>
          </a:p>
          <a:p>
            <a:r>
              <a:rPr lang="en-US" b="1" dirty="0" smtClean="0"/>
              <a:t>Packet </a:t>
            </a:r>
            <a:r>
              <a:rPr lang="en-US" b="1" dirty="0"/>
              <a:t>Bytes Pane (Bottom Section</a:t>
            </a:r>
            <a:r>
              <a:rPr lang="en-US" b="1" dirty="0" smtClean="0"/>
              <a:t>):</a:t>
            </a:r>
            <a:r>
              <a:rPr lang="en-US" dirty="0" smtClean="0"/>
              <a:t>Shows </a:t>
            </a:r>
            <a:r>
              <a:rPr lang="en-US" dirty="0"/>
              <a:t>raw hexadecimal and ASCII data — the actual contents transmitted.</a:t>
            </a:r>
          </a:p>
          <a:p>
            <a:r>
              <a:rPr lang="en-US" b="1" dirty="0" smtClean="0"/>
              <a:t>Status </a:t>
            </a:r>
            <a:r>
              <a:rPr lang="en-US" b="1" dirty="0"/>
              <a:t>Bar (Bottom Line</a:t>
            </a:r>
            <a:r>
              <a:rPr lang="en-US" b="1" dirty="0" smtClean="0"/>
              <a:t>):</a:t>
            </a:r>
            <a:r>
              <a:rPr lang="en-US" dirty="0" smtClean="0"/>
              <a:t>Displays </a:t>
            </a:r>
            <a:r>
              <a:rPr lang="en-US" dirty="0"/>
              <a:t>interface info, total packets, and live capture status.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Starting Your First Capture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0961" y="2323652"/>
            <a:ext cx="9363883" cy="4127948"/>
          </a:xfrm>
        </p:spPr>
        <p:txBody>
          <a:bodyPr>
            <a:noAutofit/>
          </a:bodyPr>
          <a:lstStyle/>
          <a:p>
            <a:r>
              <a:rPr sz="1400" b="1" dirty="0" smtClean="0"/>
              <a:t> </a:t>
            </a:r>
            <a:r>
              <a:rPr sz="1400" b="1" dirty="0"/>
              <a:t>Open </a:t>
            </a:r>
            <a:r>
              <a:rPr sz="1400" b="1" dirty="0" err="1"/>
              <a:t>Wireshark</a:t>
            </a:r>
            <a:r>
              <a:rPr sz="1400" b="1" dirty="0"/>
              <a:t>.</a:t>
            </a:r>
          </a:p>
          <a:p>
            <a:pPr marL="68580" indent="0">
              <a:buNone/>
            </a:pPr>
            <a:r>
              <a:rPr sz="1400" b="1" dirty="0" smtClean="0"/>
              <a:t> </a:t>
            </a:r>
            <a:endParaRPr lang="en-CA" sz="1400" b="1" dirty="0" smtClean="0"/>
          </a:p>
          <a:p>
            <a:r>
              <a:rPr sz="1400" b="1" dirty="0" smtClean="0"/>
              <a:t>Select </a:t>
            </a:r>
            <a:r>
              <a:rPr sz="1400" b="1" dirty="0"/>
              <a:t>your active interface (Wi-Fi/Ethernet).</a:t>
            </a:r>
          </a:p>
          <a:p>
            <a:endParaRPr lang="en-CA" sz="1400" b="1" dirty="0" smtClean="0"/>
          </a:p>
          <a:p>
            <a:r>
              <a:rPr sz="1400" b="1" dirty="0" smtClean="0"/>
              <a:t> </a:t>
            </a:r>
            <a:r>
              <a:rPr sz="1400" b="1" dirty="0"/>
              <a:t>Click ▶ Start.</a:t>
            </a:r>
          </a:p>
          <a:p>
            <a:endParaRPr lang="en-CA" sz="1400" b="1" dirty="0" smtClean="0"/>
          </a:p>
          <a:p>
            <a:r>
              <a:rPr sz="1400" b="1" dirty="0" smtClean="0"/>
              <a:t> Generate traffic </a:t>
            </a:r>
            <a:endParaRPr lang="en-CA" sz="1400" b="1" dirty="0" smtClean="0"/>
          </a:p>
          <a:p>
            <a:endParaRPr lang="en-CA" sz="1400" b="1" dirty="0" smtClean="0"/>
          </a:p>
          <a:p>
            <a:r>
              <a:rPr sz="1400" b="1" dirty="0" smtClean="0"/>
              <a:t>Stop capture (■).</a:t>
            </a:r>
            <a:endParaRPr lang="en-CA" sz="1400" b="1" dirty="0" smtClean="0"/>
          </a:p>
          <a:p>
            <a:endParaRPr lang="en-US" sz="1400" b="1" dirty="0" smtClean="0"/>
          </a:p>
          <a:p>
            <a:r>
              <a:rPr lang="en-US" sz="1400" b="1" dirty="0" smtClean="0"/>
              <a:t>Observe </a:t>
            </a:r>
            <a:r>
              <a:rPr lang="en-US" sz="1400" b="1" dirty="0"/>
              <a:t>packet headers.</a:t>
            </a:r>
          </a:p>
          <a:p>
            <a:endParaRPr lang="en-US" sz="1400" b="1" dirty="0"/>
          </a:p>
          <a:p>
            <a:r>
              <a:rPr lang="en-US" sz="1400" b="1" dirty="0"/>
              <a:t>Save and analyze results.</a:t>
            </a:r>
          </a:p>
          <a:p>
            <a:endParaRPr sz="1400" b="1" dirty="0" smtClean="0"/>
          </a:p>
          <a:p>
            <a:pPr>
              <a:buFont typeface="Wingdings" pitchFamily="2" charset="2"/>
              <a:buChar char="Ø"/>
            </a:pPr>
            <a:r>
              <a:rPr sz="1400" b="1" dirty="0" smtClean="0"/>
              <a:t>Each </a:t>
            </a:r>
            <a:r>
              <a:rPr sz="1400" b="1" dirty="0"/>
              <a:t>row = one packet (Source, Destination, Protocol, Length, Info).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Wireshark</a:t>
            </a:r>
            <a:r>
              <a:rPr dirty="0"/>
              <a:t> Packet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0961" y="2323652"/>
            <a:ext cx="9594539" cy="3508977"/>
          </a:xfrm>
        </p:spPr>
        <p:txBody>
          <a:bodyPr/>
          <a:lstStyle/>
          <a:p>
            <a:r>
              <a:rPr dirty="0" smtClean="0"/>
              <a:t>Identify </a:t>
            </a:r>
            <a:r>
              <a:rPr dirty="0"/>
              <a:t>Source/Destination IPs.</a:t>
            </a:r>
          </a:p>
          <a:p>
            <a:endParaRPr lang="en-CA" dirty="0" smtClean="0"/>
          </a:p>
          <a:p>
            <a:r>
              <a:rPr dirty="0" smtClean="0"/>
              <a:t>Check </a:t>
            </a:r>
            <a:r>
              <a:rPr dirty="0"/>
              <a:t>Ports, Protocol, TTL, Flags.</a:t>
            </a:r>
          </a:p>
          <a:p>
            <a:endParaRPr lang="en-CA" dirty="0" smtClean="0"/>
          </a:p>
          <a:p>
            <a:r>
              <a:rPr dirty="0" smtClean="0"/>
              <a:t>Compare </a:t>
            </a:r>
            <a:r>
              <a:rPr dirty="0"/>
              <a:t>TCP and UDP packets.</a:t>
            </a:r>
          </a:p>
          <a:p>
            <a:pPr marL="6858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Packet Layers in Wireshark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Captured packet example:</a:t>
            </a:r>
          </a:p>
          <a:p>
            <a:pPr indent="12700"/>
            <a:r>
              <a:rPr dirty="0" smtClean="0"/>
              <a:t> </a:t>
            </a:r>
            <a:r>
              <a:rPr dirty="0"/>
              <a:t>Ethernet II → MAC source/destination.</a:t>
            </a:r>
          </a:p>
          <a:p>
            <a:pPr indent="12700"/>
            <a:r>
              <a:rPr dirty="0" smtClean="0"/>
              <a:t> </a:t>
            </a:r>
            <a:r>
              <a:rPr dirty="0"/>
              <a:t>IPv4 → Source/Destination IP, TTL, Protocol.</a:t>
            </a:r>
          </a:p>
          <a:p>
            <a:pPr indent="12700"/>
            <a:r>
              <a:rPr dirty="0" smtClean="0"/>
              <a:t> </a:t>
            </a:r>
            <a:r>
              <a:rPr dirty="0"/>
              <a:t>TCP/UDP → Ports, Flags, Sequence.</a:t>
            </a:r>
          </a:p>
          <a:p>
            <a:pPr indent="12700"/>
            <a:r>
              <a:rPr dirty="0" smtClean="0"/>
              <a:t> </a:t>
            </a:r>
            <a:r>
              <a:rPr dirty="0"/>
              <a:t>Application → HTTP/DNS/TLS, etc.</a:t>
            </a:r>
          </a:p>
          <a:p>
            <a:endParaRPr dirty="0"/>
          </a:p>
          <a:p>
            <a:pPr indent="12700"/>
            <a:r>
              <a:rPr dirty="0"/>
              <a:t>Each maps to OSI layers 2–7.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How to use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0" y="2323652"/>
            <a:ext cx="10502900" cy="4991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762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AutoShape 2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00"/>
            <a:ext cx="1301115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5067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3377962"/>
              </p:ext>
            </p:extLst>
          </p:nvPr>
        </p:nvGraphicFramePr>
        <p:xfrm>
          <a:off x="749299" y="357106"/>
          <a:ext cx="10744198" cy="61068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57163"/>
                <a:gridCol w="1357162"/>
                <a:gridCol w="1823686"/>
                <a:gridCol w="2162977"/>
                <a:gridCol w="4043210"/>
              </a:tblGrid>
              <a:tr h="223621">
                <a:tc>
                  <a:txBody>
                    <a:bodyPr/>
                    <a:lstStyle/>
                    <a:p>
                      <a:r>
                        <a:rPr lang="en-US" sz="1400" dirty="0"/>
                        <a:t>Layer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Protocol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Field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Value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Explanation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r>
                        <a:rPr lang="en-US" sz="1400"/>
                        <a:t>Layer 2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Ethernet II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Destination MAC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f8:59:71:45:ee:1c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MAC address of your device (destination)</a:t>
                      </a:r>
                    </a:p>
                  </a:txBody>
                  <a:tcPr marL="15733" marR="15733" marT="7866" marB="7866" anchor="ctr"/>
                </a:tc>
              </a:tr>
              <a:tr h="431886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Source MAC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9c:69:d1:78:a0:0c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MAC address of the router/server (Huawei device)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Type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0x0800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Indicates that the next layer is IPv4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r>
                        <a:rPr lang="en-US" sz="1400"/>
                        <a:t>Layer 3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IPv4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Version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Protocol version = IPv4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Header Length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bytes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Size of the IP header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Total Length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78 bytes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Total size of the entire packet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Protocol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 (TCP)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The next layer uses TCP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Source IP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102.132.97.54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IP address of the remote server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Destination IP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192.168.1.19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IP address of your local device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TTL (Time To Live)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113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Maximum hops before the packet is discarded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r>
                        <a:rPr lang="en-US" sz="1400"/>
                        <a:t>Layer 4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TCP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Source Port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443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HTTPS port (server side)</a:t>
                      </a:r>
                    </a:p>
                  </a:txBody>
                  <a:tcPr marL="15733" marR="15733" marT="7866" marB="7866" anchor="ctr"/>
                </a:tc>
              </a:tr>
              <a:tr h="431886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Destination Port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55894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Temporary (ephemeral) client port on your device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Sequence Number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40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Position of the first byte in this TCP segment</a:t>
                      </a:r>
                    </a:p>
                  </a:txBody>
                  <a:tcPr marL="15733" marR="15733" marT="7866" marB="7866" anchor="ctr"/>
                </a:tc>
              </a:tr>
              <a:tr h="431886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Acknowledgment Number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Acknowledges receipt of previous data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Header Length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20 bytes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TCP header size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Flags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ACK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Acknowledgment only — no new data sent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Window Size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65535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Flow control value (receiver buffer size)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r>
                        <a:rPr lang="en-US" sz="1400"/>
                        <a:t>Layer 7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TLS (HTTPS)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Protocol Type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TLSv1.2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Encrypted communication over HTTPS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Info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Application Data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Data is encrypted (TLS payload)</a:t>
                      </a:r>
                    </a:p>
                  </a:txBody>
                  <a:tcPr marL="15733" marR="15733" marT="7866" marB="7866" anchor="ctr"/>
                </a:tc>
              </a:tr>
              <a:tr h="223621">
                <a:tc>
                  <a:txBody>
                    <a:bodyPr/>
                    <a:lstStyle/>
                    <a:p>
                      <a:r>
                        <a:rPr lang="en-US" sz="1400"/>
                        <a:t>Overall Packet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Size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78 bytes (624 bits)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Total packet length on the wire</a:t>
                      </a:r>
                    </a:p>
                  </a:txBody>
                  <a:tcPr marL="15733" marR="15733" marT="7866" marB="7866" anchor="ctr"/>
                </a:tc>
              </a:tr>
              <a:tr h="431886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Direction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From server to client</a:t>
                      </a:r>
                    </a:p>
                  </a:txBody>
                  <a:tcPr marL="15733" marR="15733" marT="7866" marB="7866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Data is coming from the Internet to your local device</a:t>
                      </a:r>
                    </a:p>
                  </a:txBody>
                  <a:tcPr marL="15733" marR="15733" marT="7866" marB="7866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948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067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4760818"/>
              </p:ext>
            </p:extLst>
          </p:nvPr>
        </p:nvGraphicFramePr>
        <p:xfrm>
          <a:off x="787401" y="876300"/>
          <a:ext cx="10617198" cy="574245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39066"/>
                <a:gridCol w="3539066"/>
                <a:gridCol w="3539066"/>
              </a:tblGrid>
              <a:tr h="193842">
                <a:tc>
                  <a:txBody>
                    <a:bodyPr/>
                    <a:lstStyle/>
                    <a:p>
                      <a:r>
                        <a:rPr lang="en-US" sz="1200" b="1"/>
                        <a:t>Layer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Protocol / Field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Details / Description</a:t>
                      </a:r>
                    </a:p>
                  </a:txBody>
                  <a:tcPr marL="30775" marR="30775" marT="15388" marB="15388" anchor="ctr"/>
                </a:tc>
              </a:tr>
              <a:tr h="339224">
                <a:tc>
                  <a:txBody>
                    <a:bodyPr/>
                    <a:lstStyle/>
                    <a:p>
                      <a:r>
                        <a:rPr lang="en-US" sz="1200" b="1"/>
                        <a:t>Frame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Size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77 bytes on wire (616 bits); 77 bytes captured</a:t>
                      </a:r>
                    </a:p>
                  </a:txBody>
                  <a:tcPr marL="30775" marR="30775" marT="15388" marB="15388" anchor="ctr"/>
                </a:tc>
              </a:tr>
              <a:tr h="193842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Interface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Wi-Fi (\Device\NPF...)</a:t>
                      </a:r>
                    </a:p>
                  </a:txBody>
                  <a:tcPr marL="30775" marR="30775" marT="15388" marB="15388" anchor="ctr"/>
                </a:tc>
              </a:tr>
              <a:tr h="484605">
                <a:tc>
                  <a:txBody>
                    <a:bodyPr/>
                    <a:lstStyle/>
                    <a:p>
                      <a:r>
                        <a:rPr lang="en-US" sz="1200" b="1"/>
                        <a:t>Ethernet II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Destination MAC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01:00:5e:7f:ff:fa (IPv4 multicast for 239.255.255.250)</a:t>
                      </a:r>
                    </a:p>
                  </a:txBody>
                  <a:tcPr marL="30775" marR="30775" marT="15388" marB="15388" anchor="ctr"/>
                </a:tc>
              </a:tr>
              <a:tr h="339224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Source MAC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a4:30:7a:65:8c:cc (SamsungElect_65:8c:cc)</a:t>
                      </a:r>
                    </a:p>
                  </a:txBody>
                  <a:tcPr marL="30775" marR="30775" marT="15388" marB="15388" anchor="ctr"/>
                </a:tc>
              </a:tr>
              <a:tr h="193842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EtherType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0x0800 → IPv4</a:t>
                      </a:r>
                    </a:p>
                  </a:txBody>
                  <a:tcPr marL="30775" marR="30775" marT="15388" marB="15388" anchor="ctr"/>
                </a:tc>
              </a:tr>
              <a:tr h="193842">
                <a:tc>
                  <a:txBody>
                    <a:bodyPr/>
                    <a:lstStyle/>
                    <a:p>
                      <a:r>
                        <a:rPr lang="en-US" sz="1200" b="1"/>
                        <a:t>IPv4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Version / IHL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v4, header 20 bytes</a:t>
                      </a:r>
                    </a:p>
                  </a:txBody>
                  <a:tcPr marL="30775" marR="30775" marT="15388" marB="15388" anchor="ctr"/>
                </a:tc>
              </a:tr>
              <a:tr h="193842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Total Length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77 bytes</a:t>
                      </a:r>
                    </a:p>
                  </a:txBody>
                  <a:tcPr marL="30775" marR="30775" marT="15388" marB="15388" anchor="ctr"/>
                </a:tc>
              </a:tr>
              <a:tr h="193842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Source IP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192.168.1.2</a:t>
                      </a:r>
                    </a:p>
                  </a:txBody>
                  <a:tcPr marL="30775" marR="30775" marT="15388" marB="15388" anchor="ctr"/>
                </a:tc>
              </a:tr>
              <a:tr h="339224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Destination IP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239.255.255.250 (multicast)</a:t>
                      </a:r>
                    </a:p>
                  </a:txBody>
                  <a:tcPr marL="30775" marR="30775" marT="15388" marB="15388" anchor="ctr"/>
                </a:tc>
              </a:tr>
              <a:tr h="193842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Protocol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17 → UDP</a:t>
                      </a:r>
                    </a:p>
                  </a:txBody>
                  <a:tcPr marL="30775" marR="30775" marT="15388" marB="15388" anchor="ctr"/>
                </a:tc>
              </a:tr>
              <a:tr h="193842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TTL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 (local-link only)</a:t>
                      </a:r>
                    </a:p>
                  </a:txBody>
                  <a:tcPr marL="30775" marR="30775" marT="15388" marB="15388" anchor="ctr"/>
                </a:tc>
              </a:tr>
              <a:tr h="193842">
                <a:tc>
                  <a:txBody>
                    <a:bodyPr/>
                    <a:lstStyle/>
                    <a:p>
                      <a:r>
                        <a:rPr lang="en-US" sz="1200" b="1"/>
                        <a:t>UDP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Source Port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59307 (ephemeral)</a:t>
                      </a:r>
                    </a:p>
                  </a:txBody>
                  <a:tcPr marL="30775" marR="30775" marT="15388" marB="15388" anchor="ctr"/>
                </a:tc>
              </a:tr>
              <a:tr h="193842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Destination Port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15600</a:t>
                      </a:r>
                    </a:p>
                  </a:txBody>
                  <a:tcPr marL="30775" marR="30775" marT="15388" marB="15388" anchor="ctr"/>
                </a:tc>
              </a:tr>
              <a:tr h="339224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Length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37 bytes (8-byte header + 29-byte data)</a:t>
                      </a:r>
                    </a:p>
                  </a:txBody>
                  <a:tcPr marL="30775" marR="30775" marT="15388" marB="15388" anchor="ctr"/>
                </a:tc>
              </a:tr>
              <a:tr h="193842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Checksum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Valid</a:t>
                      </a:r>
                    </a:p>
                  </a:txBody>
                  <a:tcPr marL="30775" marR="30775" marT="15388" marB="15388" anchor="ctr"/>
                </a:tc>
              </a:tr>
              <a:tr h="775368">
                <a:tc>
                  <a:txBody>
                    <a:bodyPr/>
                    <a:lstStyle/>
                    <a:p>
                      <a:r>
                        <a:rPr lang="en-US" sz="1200" b="1"/>
                        <a:t>Application Data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Payload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ASCII shows BSDP/0.1=DEVICE … =0:SERVI CE=1 (vendor discovery/announcement)</a:t>
                      </a:r>
                    </a:p>
                  </a:txBody>
                  <a:tcPr marL="30775" marR="30775" marT="15388" marB="15388" anchor="ctr"/>
                </a:tc>
              </a:tr>
              <a:tr h="775368">
                <a:tc>
                  <a:txBody>
                    <a:bodyPr/>
                    <a:lstStyle/>
                    <a:p>
                      <a:r>
                        <a:rPr lang="en-US" sz="1200" b="1" dirty="0"/>
                        <a:t>Interpretation</a:t>
                      </a:r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30775" marR="30775" marT="15388" marB="15388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Local multicast discovery packet sent by a Samsung device to the LAN; not routed to the internet (TTL=1).</a:t>
                      </a:r>
                    </a:p>
                  </a:txBody>
                  <a:tcPr marL="30775" marR="30775" marT="15388" marB="15388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4689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2323652"/>
            <a:ext cx="10744200" cy="4102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7006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1127319"/>
              </p:ext>
            </p:extLst>
          </p:nvPr>
        </p:nvGraphicFramePr>
        <p:xfrm>
          <a:off x="787399" y="520704"/>
          <a:ext cx="10820400" cy="615949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209606">
                <a:tc>
                  <a:txBody>
                    <a:bodyPr/>
                    <a:lstStyle/>
                    <a:p>
                      <a:r>
                        <a:rPr lang="en-US" sz="1200" b="1" dirty="0"/>
                        <a:t>Layer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Protocol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Field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Value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Explanation</a:t>
                      </a:r>
                    </a:p>
                  </a:txBody>
                  <a:tcPr marL="20517" marR="20517" marT="10258" marB="10258" anchor="ctr"/>
                </a:tc>
              </a:tr>
              <a:tr h="586532">
                <a:tc>
                  <a:txBody>
                    <a:bodyPr/>
                    <a:lstStyle/>
                    <a:p>
                      <a:r>
                        <a:rPr lang="en-US" sz="1200" b="1"/>
                        <a:t>Layer 2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Ethernet II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Destination MAC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01:00:5e:7f:ff:fa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Multicast address (IPv4 multicast for 239.255.255.250)</a:t>
                      </a:r>
                    </a:p>
                  </a:txBody>
                  <a:tcPr marL="20517" marR="20517" marT="10258" marB="10258" anchor="ctr"/>
                </a:tc>
              </a:tr>
              <a:tr h="398069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Source MAC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64:30:7a:65:8c:cc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MAC of your Samsung device (the sender)</a:t>
                      </a:r>
                    </a:p>
                  </a:txBody>
                  <a:tcPr marL="20517" marR="20517" marT="10258" marB="10258" anchor="ctr"/>
                </a:tc>
              </a:tr>
              <a:tr h="398069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Type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0x0800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Indicates the next protocol is IPv4</a:t>
                      </a:r>
                    </a:p>
                  </a:txBody>
                  <a:tcPr marL="20517" marR="20517" marT="10258" marB="10258" anchor="ctr"/>
                </a:tc>
              </a:tr>
              <a:tr h="209606">
                <a:tc>
                  <a:txBody>
                    <a:bodyPr/>
                    <a:lstStyle/>
                    <a:p>
                      <a:r>
                        <a:rPr lang="en-US" sz="1200" b="1"/>
                        <a:t>Layer 3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IPv4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Version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IPv4 packet</a:t>
                      </a:r>
                    </a:p>
                  </a:txBody>
                  <a:tcPr marL="20517" marR="20517" marT="10258" marB="10258" anchor="ctr"/>
                </a:tc>
              </a:tr>
              <a:tr h="209606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Header Length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20 bytes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Standard IPv4 header size</a:t>
                      </a:r>
                    </a:p>
                  </a:txBody>
                  <a:tcPr marL="20517" marR="20517" marT="10258" marB="10258" anchor="ctr"/>
                </a:tc>
              </a:tr>
              <a:tr h="398069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Total Length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77 bytes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Entire packet size (header + data)</a:t>
                      </a:r>
                    </a:p>
                  </a:txBody>
                  <a:tcPr marL="20517" marR="20517" marT="10258" marB="10258" anchor="ctr"/>
                </a:tc>
              </a:tr>
              <a:tr h="398069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Source IP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192.168.1.2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Local device (Samsung phone or PC)</a:t>
                      </a:r>
                    </a:p>
                  </a:txBody>
                  <a:tcPr marL="20517" marR="20517" marT="10258" marB="10258" anchor="ctr"/>
                </a:tc>
              </a:tr>
              <a:tr h="586532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Destination IP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239.255.255.250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Multicast address for SSDP (Simple Service Discovery Protocol)</a:t>
                      </a:r>
                    </a:p>
                  </a:txBody>
                  <a:tcPr marL="20517" marR="20517" marT="10258" marB="10258" anchor="ctr"/>
                </a:tc>
              </a:tr>
              <a:tr h="398069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Protocol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17 (UDP)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Upper-layer protocol is UDP</a:t>
                      </a:r>
                    </a:p>
                  </a:txBody>
                  <a:tcPr marL="20517" marR="20517" marT="10258" marB="10258" anchor="ctr"/>
                </a:tc>
              </a:tr>
              <a:tr h="586532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TTL (Time To Live)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Packet meant to stay within local network (not routed)</a:t>
                      </a:r>
                    </a:p>
                  </a:txBody>
                  <a:tcPr marL="20517" marR="20517" marT="10258" marB="10258" anchor="ctr"/>
                </a:tc>
              </a:tr>
              <a:tr h="398069">
                <a:tc>
                  <a:txBody>
                    <a:bodyPr/>
                    <a:lstStyle/>
                    <a:p>
                      <a:r>
                        <a:rPr lang="en-US" sz="1200" b="1"/>
                        <a:t>Layer 4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UDP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Source Port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59307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Random high port (client side)</a:t>
                      </a:r>
                    </a:p>
                  </a:txBody>
                  <a:tcPr marL="20517" marR="20517" marT="10258" marB="10258" anchor="ctr"/>
                </a:tc>
              </a:tr>
              <a:tr h="398069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Destination Port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15600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Service port (used by the receiving service)</a:t>
                      </a:r>
                    </a:p>
                  </a:txBody>
                  <a:tcPr marL="20517" marR="20517" marT="10258" marB="10258" anchor="ctr"/>
                </a:tc>
              </a:tr>
              <a:tr h="209606"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Length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35 bytes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Size of UDP data payload</a:t>
                      </a:r>
                    </a:p>
                  </a:txBody>
                  <a:tcPr marL="20517" marR="20517" marT="10258" marB="10258" anchor="ctr"/>
                </a:tc>
              </a:tr>
              <a:tr h="774996">
                <a:tc>
                  <a:txBody>
                    <a:bodyPr/>
                    <a:lstStyle/>
                    <a:p>
                      <a:r>
                        <a:rPr lang="en-US" sz="1200" b="1" dirty="0"/>
                        <a:t>Layer 7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Data (Application Layer)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Payload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M-SEARCH * HTTP/1.1 and ST: SSDP:ALL (inside data)</a:t>
                      </a:r>
                    </a:p>
                  </a:txBody>
                  <a:tcPr marL="20517" marR="20517" marT="10258" marB="10258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This looks like SSDP/UPnP discovery traffic — used by smart devices to find others on the LAN.</a:t>
                      </a:r>
                    </a:p>
                  </a:txBody>
                  <a:tcPr marL="20517" marR="20517" marT="10258" marB="10258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093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 &amp;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packets: wrong interface or no permissions.</a:t>
            </a:r>
          </a:p>
          <a:p>
            <a:r>
              <a:t>• Too many packets: add filters.</a:t>
            </a:r>
          </a:p>
          <a:p>
            <a:r>
              <a:t>• Encrypted HTTPS: content not visible.</a:t>
            </a:r>
          </a:p>
          <a:p>
            <a:r>
              <a:t>• Use Expert Info for warnings and retransmissions.</a:t>
            </a:r>
          </a:p>
          <a:p>
            <a:r>
              <a:t>• Save captures: File → Save As (.pcapng).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Filtering Traffic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Display Filters (after capture):</a:t>
            </a:r>
          </a:p>
          <a:p>
            <a:r>
              <a:t>• ip, tcp, udp, http, dns</a:t>
            </a:r>
          </a:p>
          <a:p>
            <a:r>
              <a:t>• tcp.port == 443</a:t>
            </a:r>
          </a:p>
          <a:p>
            <a:r>
              <a:t>• ip.addr == 192.168.1.19</a:t>
            </a:r>
          </a:p>
          <a:p>
            <a:endParaRPr/>
          </a:p>
          <a:p>
            <a:r>
              <a:t>Capture Filters (before capture):</a:t>
            </a:r>
          </a:p>
          <a:p>
            <a:r>
              <a:t>• host 192.168.1.19</a:t>
            </a:r>
          </a:p>
          <a:p>
            <a:r>
              <a:t>• port 53</a:t>
            </a:r>
          </a:p>
          <a:p>
            <a:r>
              <a:t>• tcp and port 80</a:t>
            </a:r>
          </a:p>
          <a:p>
            <a:endParaRPr/>
          </a:p>
          <a:p>
            <a:r>
              <a:t>Use filters to focus analysis.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Summery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smtClean="0"/>
              <a:t> </a:t>
            </a:r>
            <a:r>
              <a:rPr dirty="0"/>
              <a:t>IPv4: Addressing and routing.</a:t>
            </a:r>
          </a:p>
          <a:p>
            <a:endParaRPr lang="en-US" dirty="0" smtClean="0"/>
          </a:p>
          <a:p>
            <a:r>
              <a:rPr dirty="0" smtClean="0"/>
              <a:t>TCP</a:t>
            </a:r>
            <a:r>
              <a:rPr dirty="0"/>
              <a:t>: Reliable delivery.</a:t>
            </a:r>
          </a:p>
          <a:p>
            <a:endParaRPr lang="en-US" dirty="0" smtClean="0"/>
          </a:p>
          <a:p>
            <a:r>
              <a:rPr dirty="0" smtClean="0"/>
              <a:t> </a:t>
            </a:r>
            <a:r>
              <a:rPr dirty="0"/>
              <a:t>UDP: Fast, simple delivery.</a:t>
            </a:r>
          </a:p>
          <a:p>
            <a:endParaRPr lang="en-US" dirty="0" smtClean="0"/>
          </a:p>
          <a:p>
            <a:r>
              <a:rPr dirty="0" smtClean="0"/>
              <a:t>Ports</a:t>
            </a:r>
            <a:r>
              <a:rPr dirty="0"/>
              <a:t>: Identify services.</a:t>
            </a:r>
          </a:p>
          <a:p>
            <a:pPr marL="68580" indent="0">
              <a:buNone/>
            </a:pPr>
            <a:r>
              <a:rPr dirty="0" smtClean="0"/>
              <a:t> </a:t>
            </a:r>
            <a:endParaRPr lang="en-US" dirty="0" smtClean="0"/>
          </a:p>
          <a:p>
            <a:r>
              <a:rPr dirty="0" err="1" smtClean="0"/>
              <a:t>Wireshark</a:t>
            </a:r>
            <a:r>
              <a:rPr dirty="0"/>
              <a:t>: Observe everything in practice.</a:t>
            </a:r>
          </a:p>
          <a:p>
            <a:pPr marL="6858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smtClean="0"/>
              <a:t>Homework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/>
              <a:t>Objective: Apply IPv4, TCP, UDP, and Port concepts.</a:t>
            </a:r>
          </a:p>
          <a:p>
            <a:endParaRPr dirty="0"/>
          </a:p>
          <a:p>
            <a:r>
              <a:rPr dirty="0" smtClean="0"/>
              <a:t>Install </a:t>
            </a:r>
            <a:r>
              <a:rPr dirty="0" err="1"/>
              <a:t>Wireshark</a:t>
            </a:r>
            <a:r>
              <a:rPr dirty="0"/>
              <a:t>.</a:t>
            </a:r>
          </a:p>
          <a:p>
            <a:r>
              <a:rPr dirty="0" smtClean="0"/>
              <a:t>Capture </a:t>
            </a:r>
            <a:r>
              <a:rPr dirty="0"/>
              <a:t>live packets.</a:t>
            </a:r>
          </a:p>
          <a:p>
            <a:r>
              <a:rPr dirty="0" smtClean="0"/>
              <a:t>Select </a:t>
            </a:r>
            <a:r>
              <a:rPr dirty="0"/>
              <a:t>4 packets: IPv4, TCP, UDP, App layer.</a:t>
            </a:r>
          </a:p>
          <a:p>
            <a:r>
              <a:rPr dirty="0" smtClean="0"/>
              <a:t>Analyze </a:t>
            </a:r>
            <a:r>
              <a:rPr dirty="0"/>
              <a:t>each (IPs, Ports, Protocol, Fields).</a:t>
            </a:r>
          </a:p>
          <a:p>
            <a:r>
              <a:rPr dirty="0" smtClean="0"/>
              <a:t>Write </a:t>
            </a:r>
            <a:r>
              <a:rPr dirty="0"/>
              <a:t>report with screenshots.</a:t>
            </a:r>
          </a:p>
          <a:p>
            <a:r>
              <a:rPr dirty="0" smtClean="0"/>
              <a:t>Submit </a:t>
            </a:r>
            <a:r>
              <a:rPr dirty="0"/>
              <a:t>to classroom system.</a:t>
            </a:r>
          </a:p>
          <a:p>
            <a:pPr marL="6858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319</TotalTime>
  <Words>1928</Words>
  <Application>Microsoft Office PowerPoint</Application>
  <PresentationFormat>Custom</PresentationFormat>
  <Paragraphs>483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Austin</vt:lpstr>
      <vt:lpstr>Section 4   IPv4, TCP, UDP,   and Wireshark Analysis</vt:lpstr>
      <vt:lpstr>IPv4 Overview</vt:lpstr>
      <vt:lpstr>IPv4 Header Fields</vt:lpstr>
      <vt:lpstr>TCP Overview</vt:lpstr>
      <vt:lpstr>TCP 3-Way Handshake</vt:lpstr>
      <vt:lpstr>TCP Header Fields</vt:lpstr>
      <vt:lpstr>UDP Overview</vt:lpstr>
      <vt:lpstr>UDP Header Fields</vt:lpstr>
      <vt:lpstr>TCP vs UDP Comparison</vt:lpstr>
      <vt:lpstr>Port Numbers</vt:lpstr>
      <vt:lpstr>Common TCP and UDP Ports</vt:lpstr>
      <vt:lpstr>What is Wireshark</vt:lpstr>
      <vt:lpstr>Why Do We Use Wireshark?</vt:lpstr>
      <vt:lpstr>Wireshark Interface Overview</vt:lpstr>
      <vt:lpstr>Starting Your First Capture</vt:lpstr>
      <vt:lpstr>Wireshark Packet Analysis</vt:lpstr>
      <vt:lpstr>Packet Layers in Wireshark</vt:lpstr>
      <vt:lpstr>How to use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Mistakes &amp; Troubleshooting</vt:lpstr>
      <vt:lpstr>Filtering Traffic</vt:lpstr>
      <vt:lpstr>Summery</vt:lpstr>
      <vt:lpstr>Homework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3 – IPv4, TCP, UDP, and Wireshark Analysis</dc:title>
  <dc:creator>laptop</dc:creator>
  <dc:description>generated using python-pptx</dc:description>
  <cp:lastModifiedBy>laptop</cp:lastModifiedBy>
  <cp:revision>34</cp:revision>
  <dcterms:created xsi:type="dcterms:W3CDTF">2013-01-27T09:14:16Z</dcterms:created>
  <dcterms:modified xsi:type="dcterms:W3CDTF">2025-10-27T11:16:55Z</dcterms:modified>
</cp:coreProperties>
</file>